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FE9F5-9820-4EC7-BABE-88478CE66C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47C077-BCE1-4CE6-9DA8-582595CB3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61FD79-1689-43D2-804A-C0D3F6D5FE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D9F28A0-A451-4E59-A90F-24264A11AA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Click to edit the outline text format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Second Outline Level</a:t>
            </a:r>
            <a:endParaRPr b="0" lang="en-US" sz="2100" spc="-1" strike="noStrike">
              <a:solidFill>
                <a:srgbClr val="2c3e5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c3e50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2c3e50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2c3e50"/>
              </a:solidFill>
              <a:latin typeface="Noto Sans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2c3e50"/>
              </a:solidFill>
              <a:latin typeface="Noto Sans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2c3e50"/>
              </a:solidFill>
              <a:latin typeface="Noto Sans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fld id="{9553E594-16D1-4587-98AC-A478AD6E80C8}" type="slidenum">
              <a:rPr b="1" lang="en-US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352"/>
          </a:bodyPr>
          <a:p>
            <a:pPr marL="432000" indent="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fld id="{5DEC587C-9068-49EC-A8D4-EFE3DB89F89A}" type="slidenum">
              <a:rPr b="1" lang="en-US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2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US" sz="2700" spc="-1" strike="noStrike">
                <a:solidFill>
                  <a:srgbClr val="2c3e50"/>
                </a:solidFill>
                <a:latin typeface="Noto Sans"/>
              </a:rPr>
              <a:t>Click to edit the title text format</a:t>
            </a: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354"/>
          </a:bodyPr>
          <a:p>
            <a:pPr marL="432000" indent="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buNone/>
            </a:pPr>
            <a:fld id="{0F7A5E85-69A5-44DD-B056-C38F499F66A8}" type="slidenum">
              <a:rPr b="1" lang="en-US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2024640"/>
            <a:ext cx="9360000" cy="14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Market-Implied Probability Distributions from Option Prices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60000" y="37728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Noto Sans"/>
              </a:rPr>
              <a:t>Goal: extract and analyzed the implied risk-neutral distribution of future asset prices using option market data</a:t>
            </a:r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Noto Sans"/>
              </a:rPr>
              <a:t>Market-Implied Probability Distributions from Option Prices</a:t>
            </a:r>
            <a:endParaRPr b="1" lang="en-US" sz="24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294" lnSpcReduction="10000"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Goal: extract and analyze the implied risk-neutral distribution of future asset prices using option market data.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Option prices embed market expectations about future outcomes.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We should be able to recover a PDF of future prices implied by those options.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Dataset: SPX options, daily data for 1DTE, 7DTE, 28DTE options over 4 years (2020-2023)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0F26DC-46A7-4BF3-A6A1-B19238B1D2B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Theoretical background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65"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Under the risk-neutral measure, discounted asset prices are martingales.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The value of an option is the expected payoff under the risk-neutral distribution.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Breeden-Litzenberger formula says that the second derivative of the call price (as a function of the strike) gives the implied density at maturity.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There are methods to get from the risk-neutral density to the real-world density.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3312DA-8A47-4951-8281-79C6BE74066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Conceptual picture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Observe market option prices across different strikes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Smooth the discrete prices to obtain a differentiable C(K)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Compute the second derivative numerically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Apply a utility function model to obtain a slightly more realistic density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4F4DA-6ADA-439F-AF39-74613286E8E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Data and setup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Underlying: S&amp;P 500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Daily data: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Strike prices, bid/ask</a:t>
            </a:r>
            <a:endParaRPr b="0" lang="en-US" sz="21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Time to expiration</a:t>
            </a:r>
            <a:endParaRPr b="0" lang="en-US" sz="21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Underlying spot price</a:t>
            </a:r>
            <a:endParaRPr b="0" lang="en-US" sz="21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Discrete and noisy/irregular data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27B76F-097B-4124-965A-1F7CE6B7551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Methodology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198"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2c3e50"/>
                </a:solidFill>
                <a:latin typeface="Noto Sans"/>
              </a:rPr>
              <a:t>Data cleaning</a:t>
            </a:r>
            <a:endParaRPr b="1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Fill gaps via linear interpolation of mid prices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Away from the spot price, C(K) is roughly linear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2c3e50"/>
                </a:solidFill>
                <a:latin typeface="Noto Sans"/>
              </a:rPr>
              <a:t>Implied volatility conversion</a:t>
            </a:r>
            <a:endParaRPr b="1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Convert prices to IV using Black-Scholes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Interpolation in IV space is more stable than on prices directly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2c3e50"/>
                </a:solidFill>
                <a:latin typeface="Noto Sans"/>
              </a:rPr>
              <a:t>Smoothing</a:t>
            </a:r>
            <a:endParaRPr b="1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Fit a cubic spline to log(IV) as a function of log-moneyness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c3e50"/>
                </a:solidFill>
                <a:latin typeface="Noto Sans"/>
              </a:rPr>
              <a:t>Guarntee smoothness and positivity</a:t>
            </a:r>
            <a:endParaRPr b="0" lang="en-US" sz="16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2c3e50"/>
                </a:solidFill>
                <a:latin typeface="Noto Sans"/>
              </a:rPr>
              <a:t>Convert back to prices, take the second derivative, and normalize</a:t>
            </a:r>
            <a:endParaRPr b="1" lang="en-US" sz="16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750616-AD9D-4F1E-9DB1-D656F2EE090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Methodology</a:t>
            </a:r>
            <a:endParaRPr b="1" lang="en-US" sz="27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Apply the Continuous Ranked Probability Score to evaluate the performance of the predicted distributions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The real-world and risk-neutral distributions are connected by the stochastic discount factor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Noto Sans"/>
              </a:rPr>
              <a:t>With some assumptions on this and some results from the literature, we can improve our risk-neutral distribution slightly</a:t>
            </a:r>
            <a:endParaRPr b="1" lang="en-US" sz="24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8ED43-0CC0-49DE-B159-C3774D3E215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7B3E820-D759-4E6B-A626-B1E128DEC64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2025-11-06T22:14:01Z</dcterms:created>
  <dc:creator/>
  <dc:description/>
  <dc:language>en-US</dc:language>
  <cp:lastModifiedBy/>
  <dcterms:modified xsi:type="dcterms:W3CDTF">2025-11-06T22:40:26Z</dcterms:modified>
  <cp:revision>3</cp:revision>
  <dc:subject/>
  <dc:title>Midnightblue</dc:title>
</cp:coreProperties>
</file>